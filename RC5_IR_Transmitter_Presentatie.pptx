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70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89BF4A-BFAD-41DC-80F6-0DF841913CD1}" v="5" dt="2026-02-13T11:46:49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8670" autoAdjust="0"/>
  </p:normalViewPr>
  <p:slideViewPr>
    <p:cSldViewPr snapToGrid="0" snapToObjects="1">
      <p:cViewPr varScale="1">
        <p:scale>
          <a:sx n="75" d="100"/>
          <a:sy n="75" d="100"/>
        </p:scale>
        <p:origin x="16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53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6F9F6-94F3-1615-831D-A3DC486B5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580B3F-7DA3-F905-79B9-15A8FDE99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5EC37-94F7-224F-7764-7760A20B5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EFE15-ABD2-B4ED-C593-CDE4526819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4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ARR = </a:t>
            </a:r>
            <a:r>
              <a:rPr lang="nl-B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(32,000,000 / 38,000) - 1 = 842</a:t>
            </a:r>
          </a:p>
          <a:p>
            <a:endParaRPr lang="nl-BE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nl-B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1s=&gt; 32 000 000 </a:t>
            </a:r>
            <a:r>
              <a:rPr lang="nl-B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ticks</a:t>
            </a:r>
            <a:r>
              <a:rPr lang="nl-B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=&gt; 1/38000 van een seconde nodig</a:t>
            </a:r>
          </a:p>
          <a:p>
            <a:endParaRPr lang="nl-BE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nl-B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842/4 =&gt; </a:t>
            </a:r>
            <a:r>
              <a:rPr lang="nl-B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pulsbreedte</a:t>
            </a:r>
            <a:endParaRPr lang="nl-BE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Timing van 1 bit =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1778 µs</a:t>
            </a:r>
            <a:endParaRPr lang="en-US" sz="12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/>
              <a:t>Halve bit = 889 µs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0x1F = 00011111  &lt;&lt; 6 :</a:t>
            </a:r>
          </a:p>
          <a:p>
            <a:endParaRPr lang="en-US" dirty="0"/>
          </a:p>
          <a:p>
            <a:r>
              <a:rPr lang="en-US" dirty="0"/>
              <a:t>0x3F = 00111111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989D4-1E30-5C39-6873-D812B8D28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55E9F-5506-0D33-AE08-4E1497CD0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E7EB1-9C0E-3C00-1BD0-1CB4EB628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0x1F = 00011111  &lt;&lt; 6 :</a:t>
            </a:r>
          </a:p>
          <a:p>
            <a:endParaRPr lang="en-US" dirty="0"/>
          </a:p>
          <a:p>
            <a:r>
              <a:rPr lang="en-US" dirty="0"/>
              <a:t>0x3F = 00111111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601C6-5377-5F94-06A7-70EDF1E570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02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0"/>
            <a:ext cx="5303520" cy="5143500"/>
          </a:xfrm>
          <a:prstGeom prst="rect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>
            <a:off x="-457200" y="-1828800"/>
            <a:ext cx="4572000" cy="8229600"/>
          </a:xfrm>
          <a:prstGeom prst="ellipse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Shape 2"/>
          <p:cNvSpPr/>
          <p:nvPr/>
        </p:nvSpPr>
        <p:spPr>
          <a:xfrm>
            <a:off x="-1371600" y="-2286000"/>
            <a:ext cx="4572000" cy="8229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 IR Transmitter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Architectuur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STM32L432KC NUCLEO 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/>
              <a:t>Game Tech</a:t>
            </a:r>
          </a:p>
        </p:txBody>
      </p:sp>
      <p:sp>
        <p:nvSpPr>
          <p:cNvPr id="9" name="Text 7"/>
          <p:cNvSpPr/>
          <p:nvPr/>
        </p:nvSpPr>
        <p:spPr>
          <a:xfrm>
            <a:off x="41148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VIVES Hogeschool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SYSTEEMOVERZICHT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en Software Architectuur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RC5_BuildFrame()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RC5_Send()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loop (polling)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66666"/>
                </a:solidFill>
              </a:rPr>
              <a:t>▼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27432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TIM15 Update ISR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HAL_TIM_PeriodElapsed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Callback() - elke 889 µs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66666"/>
                </a:solidFill>
              </a:rPr>
              <a:t>▼         ▼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1371600" cy="822960"/>
          </a:xfrm>
          <a:prstGeom prst="rect">
            <a:avLst/>
          </a:prstGeom>
          <a:solidFill>
            <a:srgbClr val="E8F4FD"/>
          </a:solidFill>
          <a:ln w="254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7" name="Text 15"/>
          <p:cNvSpPr/>
          <p:nvPr/>
        </p:nvSpPr>
        <p:spPr>
          <a:xfrm>
            <a:off x="274320" y="3977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TIM15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(envelope)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0" y="3931920"/>
            <a:ext cx="1371600" cy="82296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9" name="Text 17"/>
          <p:cNvSpPr/>
          <p:nvPr/>
        </p:nvSpPr>
        <p:spPr>
          <a:xfrm>
            <a:off x="1828800" y="3977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TIM16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(carrier)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1371600"/>
            <a:ext cx="210312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21" name="Text 19"/>
          <p:cNvSpPr/>
          <p:nvPr/>
        </p:nvSpPr>
        <p:spPr>
          <a:xfrm>
            <a:off x="384048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kHz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4048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Frequentie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371600"/>
            <a:ext cx="210312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24" name="Text 22"/>
          <p:cNvSpPr/>
          <p:nvPr/>
        </p:nvSpPr>
        <p:spPr>
          <a:xfrm>
            <a:off x="603504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889 µs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03504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Half-bit Periode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0" y="2560320"/>
            <a:ext cx="210312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27" name="Text 25"/>
          <p:cNvSpPr/>
          <p:nvPr/>
        </p:nvSpPr>
        <p:spPr>
          <a:xfrm>
            <a:off x="384048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bits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84048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 Frame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560320"/>
            <a:ext cx="210312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0" name="Text 28"/>
          <p:cNvSpPr/>
          <p:nvPr/>
        </p:nvSpPr>
        <p:spPr>
          <a:xfrm>
            <a:off x="603504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 ms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03504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Duur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3657600"/>
          <a:ext cx="4114800" cy="10972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TIM16_CH1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Gemoduleerde IR output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TIM15_CH1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Envelope (debug)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IR_OUT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IRTIM (niet bruikbaar)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 PROTOCOL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Structuur en Manchester Encoding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14-bit RC5 Frame (MSB first):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0" cy="640080"/>
          </a:xfrm>
          <a:prstGeom prst="rect">
            <a:avLst/>
          </a:prstGeom>
          <a:solidFill>
            <a:srgbClr val="4CAF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13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97280" y="1737360"/>
            <a:ext cx="548640" cy="640080"/>
          </a:xfrm>
          <a:prstGeom prst="rect">
            <a:avLst/>
          </a:prstGeom>
          <a:solidFill>
            <a:srgbClr val="4CAF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Text 11"/>
          <p:cNvSpPr/>
          <p:nvPr/>
        </p:nvSpPr>
        <p:spPr>
          <a:xfrm>
            <a:off x="1097280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12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37360" y="1737360"/>
            <a:ext cx="548640" cy="640080"/>
          </a:xfrm>
          <a:prstGeom prst="rect">
            <a:avLst/>
          </a:prstGeom>
          <a:solidFill>
            <a:srgbClr val="FF98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6" name="Text 14"/>
          <p:cNvSpPr/>
          <p:nvPr/>
        </p:nvSpPr>
        <p:spPr>
          <a:xfrm>
            <a:off x="1737360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11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1737360"/>
            <a:ext cx="1280160" cy="640080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9" name="Text 17"/>
          <p:cNvSpPr/>
          <p:nvPr/>
        </p:nvSpPr>
        <p:spPr>
          <a:xfrm>
            <a:off x="237744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AAAAA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10-6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49040" y="1737360"/>
            <a:ext cx="1463040" cy="640080"/>
          </a:xfrm>
          <a:prstGeom prst="rect">
            <a:avLst/>
          </a:prstGeom>
          <a:solidFill>
            <a:srgbClr val="9C27B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2" name="Text 20"/>
          <p:cNvSpPr/>
          <p:nvPr/>
        </p:nvSpPr>
        <p:spPr>
          <a:xfrm>
            <a:off x="374904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CCCCCC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5-0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15000" y="1330091"/>
            <a:ext cx="228600" cy="2286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25" name="Text 23"/>
          <p:cNvSpPr/>
          <p:nvPr/>
        </p:nvSpPr>
        <p:spPr>
          <a:xfrm>
            <a:off x="6035040" y="1330091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S1, S2 = Start bits (altijd 1)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15000" y="1650131"/>
            <a:ext cx="228600" cy="2286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27" name="Text 25"/>
          <p:cNvSpPr/>
          <p:nvPr/>
        </p:nvSpPr>
        <p:spPr>
          <a:xfrm>
            <a:off x="6035040" y="1650131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Toggle bit (wisselt per druk)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15000" y="1970171"/>
            <a:ext cx="228600" cy="22860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29" name="Text 27"/>
          <p:cNvSpPr/>
          <p:nvPr/>
        </p:nvSpPr>
        <p:spPr>
          <a:xfrm>
            <a:off x="6035040" y="1970171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= 5-bit device adres (0-31)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15000" y="2290211"/>
            <a:ext cx="228600" cy="22860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1" name="Text 29"/>
          <p:cNvSpPr/>
          <p:nvPr/>
        </p:nvSpPr>
        <p:spPr>
          <a:xfrm>
            <a:off x="6035040" y="2290211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= 6-bit commando (0-63)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 Encoding: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383280"/>
            <a:ext cx="201168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4" name="Text 32"/>
          <p:cNvSpPr/>
          <p:nvPr/>
        </p:nvSpPr>
        <p:spPr>
          <a:xfrm>
            <a:off x="45720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'1'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→ HIGH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(stijgende flank)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___▔▔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651760" y="3383280"/>
            <a:ext cx="201168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8" name="Text 36"/>
          <p:cNvSpPr/>
          <p:nvPr/>
        </p:nvSpPr>
        <p:spPr>
          <a:xfrm>
            <a:off x="265176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'0'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65176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→ LOW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(dalende flank)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65176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▔▔___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29200" y="3383280"/>
            <a:ext cx="3657600" cy="128016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2" name="Text 40"/>
          <p:cNvSpPr/>
          <p:nvPr/>
        </p:nvSpPr>
        <p:spPr>
          <a:xfrm>
            <a:off x="502920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Specificaties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20640" y="3749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Half-bit periode: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889 µs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periode: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1.778 ms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duur: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× 1.778 = 24.889 ms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Carrier: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kHz (25% duty cycle)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SYSTEEMKLOK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Configuratie voor Timers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645920" cy="82296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MHz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66666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651760" y="1463040"/>
            <a:ext cx="164592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2" name="Text 10"/>
          <p:cNvSpPr/>
          <p:nvPr/>
        </p:nvSpPr>
        <p:spPr>
          <a:xfrm>
            <a:off x="2651760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×16 /2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66666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846320" y="1463040"/>
            <a:ext cx="1828800" cy="82296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SYSCLK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MHz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2286000"/>
            <a:ext cx="0" cy="73152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7" name="Shape 15"/>
          <p:cNvSpPr/>
          <p:nvPr/>
        </p:nvSpPr>
        <p:spPr>
          <a:xfrm>
            <a:off x="4114800" y="3017520"/>
            <a:ext cx="32918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8" name="Shape 16"/>
          <p:cNvSpPr/>
          <p:nvPr/>
        </p:nvSpPr>
        <p:spPr>
          <a:xfrm>
            <a:off x="3657600" y="3200400"/>
            <a:ext cx="18288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9" name="Text 17"/>
          <p:cNvSpPr/>
          <p:nvPr/>
        </p:nvSpPr>
        <p:spPr>
          <a:xfrm>
            <a:off x="365760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APB1 = 32 MHz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TIM15 clock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3200400"/>
            <a:ext cx="18288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1" name="Text 19"/>
          <p:cNvSpPr/>
          <p:nvPr/>
        </p:nvSpPr>
        <p:spPr>
          <a:xfrm>
            <a:off x="594360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APB2 = 32 MHz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TIM16 clock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560320"/>
            <a:ext cx="2926080" cy="2194560"/>
          </a:xfrm>
          <a:prstGeom prst="rect">
            <a:avLst/>
          </a:prstGeom>
          <a:solidFill>
            <a:srgbClr val="F5F5F5"/>
          </a:solidFill>
          <a:ln w="2540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3" name="Text 21"/>
          <p:cNvSpPr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Berekeningen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2971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TIM16 (Carrier 38 kHz):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PSC = 0, ARR = 842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32M / 843 = 37.961 Hz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TIM15 (Envelope 889 µs):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PSC = 31, ARR = 888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× 889 / 32M = 889 µs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7946D9-C2D6-127E-A218-FCB8F5AB3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264927-40A0-CCC4-96F2-ABF67EAE6AB3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2C36AE2-1DDA-69A5-F481-A9FAC584792D}"/>
              </a:ext>
            </a:extLst>
          </p:cNvPr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1E3F93-88CA-B537-F98B-A1D3A07DB85E}"/>
              </a:ext>
            </a:extLst>
          </p:cNvPr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SYSTEEMKLOK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A674FD-5F5A-8741-C4AE-F370E23C2A88}"/>
              </a:ext>
            </a:extLst>
          </p:cNvPr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4DA70ED-855B-559F-1DCB-76396CA48C48}"/>
              </a:ext>
            </a:extLst>
          </p:cNvPr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pic>
        <p:nvPicPr>
          <p:cNvPr id="26" name="Afbeelding 25">
            <a:extLst>
              <a:ext uri="{FF2B5EF4-FFF2-40B4-BE49-F238E27FC236}">
                <a16:creationId xmlns:a16="http://schemas.microsoft.com/office/drawing/2014/main" id="{1781E350-B1F1-9ED7-D573-9A633587F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39" y="1409468"/>
            <a:ext cx="8574648" cy="272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193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TIM16 - CARRIER GENERATOR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kHz Draaggolf voor IR LED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840480" cy="182880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htim16.Init.Prescaler = 0;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htim16.Init.Period = 842;    // ARR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sConfigOC.Pulse = 210;       // CCR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Frequentie: 32M / 843 = 37.96 kHz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Duty cycle: 210/843 = 24.9%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3840480" cy="137160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Gating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ISR schakelt carrier aan/uit via CCR: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CCR = 210  → 38 kHz PWM op PA6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CCR = 0    → PA6 constant LOW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71600"/>
          <a:ext cx="4389120" cy="10972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OC1REF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 (ON)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Toggles 38 kHz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 kHz PWM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(OFF)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Altijd 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0" y="2743200"/>
            <a:ext cx="411480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6" name="Text 13"/>
          <p:cNvSpPr/>
          <p:nvPr/>
        </p:nvSpPr>
        <p:spPr>
          <a:xfrm>
            <a:off x="457200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CCR Preload (OC1PE = 1)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663440" y="315468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CCR wijzigingen worden pas actief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 het volgende update event.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Maximale latency: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carrier periode = ~26.3 µs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 is verwaarloosbaar t.o.v.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889 µs half-bit periode.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TIM15 - ENVELOPE TIMER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Base en Debug Output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840480" cy="128016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Functies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Time base: interrupt elke 889 µs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(één RC5 half-bit)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PWM output op PA2 voor debug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840480" cy="109728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htim15.Init.Prescaler = 31;  // 32→1 MHz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htim15.Init.Period = 888;    // ARR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(31+1) × (888+1) / 32M = 889 µs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3840480" cy="777240"/>
          </a:xfrm>
          <a:prstGeom prst="rect">
            <a:avLst/>
          </a:prstGeom>
          <a:solidFill>
            <a:srgbClr val="FFEBEE"/>
          </a:solidFill>
          <a:ln w="2540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CCR Preload UITGESCHAKELD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480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htim15.Instance-&gt;CCMR1 &amp;= ~TIM_CCMR1_OC1PE;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71600"/>
          <a:ext cx="4023360" cy="10972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OC1REF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ARR+1 (889)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Altijd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Altijd 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572000" y="2651760"/>
            <a:ext cx="4114800" cy="2194560"/>
          </a:xfrm>
          <a:prstGeom prst="rect">
            <a:avLst/>
          </a:prstGeom>
          <a:solidFill>
            <a:srgbClr val="F5F5F5"/>
          </a:solidFill>
          <a:ln w="2540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9" name="Text 16"/>
          <p:cNvSpPr/>
          <p:nvPr/>
        </p:nvSpPr>
        <p:spPr>
          <a:xfrm>
            <a:off x="457200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Geen Preload?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63440" y="306324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preload: 889 µs vertraging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preload: directe werking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 is veilig omdat CCR alleen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waarden 0 of ARR+1 aanneemt.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tussenliggende duty cycles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zouden kunnen glitchen.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RC5_BUILDFRAME()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Constructie en Manchester Conversie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029200" cy="3291840"/>
          </a:xfrm>
          <a:prstGeom prst="rect">
            <a:avLst/>
          </a:prstGeom>
          <a:solidFill>
            <a:srgbClr val="1E1E1E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RC5_BuildFrame(uint8_t toggle,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address, uint8_t command) {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uint16_t frame = 0x3000U;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 |= ((toggle &amp; 0x1U) &lt;&lt; 11);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 |= ((address &amp; 0x1FU) &lt;&lt; 6);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 |= (command &amp; 0x3FU);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(uint8_t bit = 0; bit &lt; 14U; bit++)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uint8_t value =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(frame &gt;&gt; (13U - bit)) &amp; 0x1U;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rc5_halfbits[bit*2U] = !value;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rc5_halfbits[bit*2U + 1U] = value;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0" y="1371600"/>
            <a:ext cx="301752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1" name="Text 9"/>
          <p:cNvSpPr/>
          <p:nvPr/>
        </p:nvSpPr>
        <p:spPr>
          <a:xfrm>
            <a:off x="566928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Opbouw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7373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0x3000 = S1=1, S2=1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op bit 11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op bits 10-6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op bits 5-0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3200400"/>
            <a:ext cx="3017520" cy="146304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4" name="Text 12"/>
          <p:cNvSpPr/>
          <p:nvPr/>
        </p:nvSpPr>
        <p:spPr>
          <a:xfrm>
            <a:off x="566928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 Conversie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3566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1 → [0, 1] = space, mark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0 → [1, 0] = mark, space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1e half-bit = !value (invers)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2e half-bit = value (zelfde)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54B52-ECF4-5E73-7092-2452C33CF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2A2FE1-0268-3ECC-E7D9-65FECB916E50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6FA72B-4D64-5149-1430-356F6C67A903}"/>
              </a:ext>
            </a:extLst>
          </p:cNvPr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57684B-4FF7-EC8A-C156-E47D929A66DD}"/>
              </a:ext>
            </a:extLst>
          </p:cNvPr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RC5_BUILDFRAME()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DB4AE2F-4F27-74AB-AAB3-959FB29DACDE}"/>
              </a:ext>
            </a:extLst>
          </p:cNvPr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282F13-0983-28D2-CC29-EE52C9D96DA2}"/>
              </a:ext>
            </a:extLst>
          </p:cNvPr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F8E9B4-EED8-BFF6-C193-2D240BD2B589}"/>
              </a:ext>
            </a:extLst>
          </p:cNvPr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Constructie en Manchester Conversie</a:t>
            </a:r>
            <a:endParaRPr lang="en-US" sz="1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C96DA6E-3055-2817-0649-B9CA6EE5A841}"/>
              </a:ext>
            </a:extLst>
          </p:cNvPr>
          <p:cNvSpPr/>
          <p:nvPr/>
        </p:nvSpPr>
        <p:spPr>
          <a:xfrm>
            <a:off x="5669280" y="1371600"/>
            <a:ext cx="301752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1A1FED8-9C5E-12F8-DD12-EA1AB0239F24}"/>
              </a:ext>
            </a:extLst>
          </p:cNvPr>
          <p:cNvSpPr/>
          <p:nvPr/>
        </p:nvSpPr>
        <p:spPr>
          <a:xfrm>
            <a:off x="566928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Opbouw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E8F3853-AEDC-3349-18C6-92326E028EC3}"/>
              </a:ext>
            </a:extLst>
          </p:cNvPr>
          <p:cNvSpPr/>
          <p:nvPr/>
        </p:nvSpPr>
        <p:spPr>
          <a:xfrm>
            <a:off x="5760720" y="17373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0x3000 = S1=1, S2=1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op bit 11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op bits 10-6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op bits 5-0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AD8BB47-FEE1-46E1-A5BE-5FB2F9E2B120}"/>
              </a:ext>
            </a:extLst>
          </p:cNvPr>
          <p:cNvSpPr/>
          <p:nvPr/>
        </p:nvSpPr>
        <p:spPr>
          <a:xfrm>
            <a:off x="5669280" y="3200400"/>
            <a:ext cx="3017520" cy="146304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38F02A8-D08F-5C61-BCB4-A67861D5CC2B}"/>
              </a:ext>
            </a:extLst>
          </p:cNvPr>
          <p:cNvSpPr/>
          <p:nvPr/>
        </p:nvSpPr>
        <p:spPr>
          <a:xfrm>
            <a:off x="566928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 Conversie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25C901B-B3F7-EBCB-ABF1-6DFD180DAC65}"/>
              </a:ext>
            </a:extLst>
          </p:cNvPr>
          <p:cNvSpPr/>
          <p:nvPr/>
        </p:nvSpPr>
        <p:spPr>
          <a:xfrm>
            <a:off x="5760720" y="3566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1 → [0, 1] = space, mark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0 → [1, 0] = mark, space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1e half-bit = !value (invers)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2e half-bit = value (zelfde)</a:t>
            </a:r>
            <a:endParaRPr lang="en-US" sz="900" dirty="0"/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DABCAA89-724C-10CB-0BA4-C200A3BE3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45" y="1768901"/>
            <a:ext cx="4695859" cy="186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023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TRANSMISSIE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RC5_Send() en ISR Callback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114800" cy="2194560"/>
          </a:xfrm>
          <a:prstGeom prst="rect">
            <a:avLst/>
          </a:prstGeom>
          <a:solidFill>
            <a:srgbClr val="1E1E1E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RC5_Send()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RC5_BuildFrame(toggle, addr, cmd);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rc5_pos = 0U;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rc5_busy = 1U;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 initial half-bit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__HAL_TIM_SET_COMPARE(&amp;htim15,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rc5_halfbits[0] ? arr+1 : 0);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__HAL_TIM_SET_COMPARE(&amp;htim16,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rc5_halfbits[0] ? 210 : 0);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HAL_TIM_PWM_Start(&amp;htim15, CH1);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HAL_TIM_Base_Start_IT(&amp;htim15);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2194560"/>
          </a:xfrm>
          <a:prstGeom prst="rect">
            <a:avLst/>
          </a:prstGeom>
          <a:solidFill>
            <a:srgbClr val="1E1E1E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 Callback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Fires every 889 µs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rc5_pos++;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(rc5_pos &lt; 28) {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Update envelope (TIM15)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SET_CCR(htim15,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halfbits[pos] ? arr+1 : 0);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Update carrier (TIM16)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SET_CCR(htim16,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halfbits[pos] ? 210 : 0);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 // Frame done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rc5_busy = 0; STOP_TIM15;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Transmissie Flow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RC5_Send() → Bouw frame, set eerste half-bit, start TIM15 → ISR elke 889µs → Stap door 28 half-bits → Stop na pos=28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LOOP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Periodieke Transmissie met Toggle Bit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57200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(1)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(!rc5_busy &amp;&amp;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(HAL_GetTick() - last_tx_ms) &gt;= 120U)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toggle_bit ^= 0x1U;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RC5_Send(toggle_bit, 0x00, 0x10);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last_tx_ms = HAL_GetTick();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1371600"/>
            <a:ext cx="3474720" cy="118872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1" name="Text 9"/>
          <p:cNvSpPr/>
          <p:nvPr/>
        </p:nvSpPr>
        <p:spPr>
          <a:xfrm>
            <a:off x="52120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ms Interval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 vereist minimaal ~114 ms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tussen frames.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rc5_busy voorkomt overlap.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2743200"/>
            <a:ext cx="3474720" cy="137160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4" name="Text 12"/>
          <p:cNvSpPr/>
          <p:nvPr/>
        </p:nvSpPr>
        <p:spPr>
          <a:xfrm>
            <a:off x="521208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Bit (XOR)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3108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toggle_bit ^= 0x1U flipt bit 0.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wisselt: 0x3010 ↔ 0x3810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Simuleert herhaalde nieuwe druk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(niet: toets ingedrukt houden).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57200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7" name="Text 15"/>
          <p:cNvSpPr/>
          <p:nvPr/>
        </p:nvSpPr>
        <p:spPr>
          <a:xfrm>
            <a:off x="45720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1 (T=0)    Frame 2 (T=1)    Frame 3 (T=0)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|←-- 25ms --→|   ← 95ms idle →   |←-- 25ms --→|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|←------------ 120ms ----------→|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IRTIM vs SOFTWARE GATING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Interface en Workaround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IRTIM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STM32L432 heeft hardware IR interface: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IR_OUT = TIM16_OC1REF AND TIM15_OC1REF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 combineert carrier met envelope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CPU overhead of jitter.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4114800" cy="1645920"/>
          </a:xfrm>
          <a:prstGeom prst="rect">
            <a:avLst/>
          </a:prstGeom>
          <a:solidFill>
            <a:srgbClr val="FFEBEE"/>
          </a:solidFill>
          <a:ln w="2540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2" name="Text 10"/>
          <p:cNvSpPr/>
          <p:nvPr/>
        </p:nvSpPr>
        <p:spPr>
          <a:xfrm>
            <a:off x="45720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Probleem op NUCLEO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7373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PA13 (IR_OUT) is gedeeld met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ST-Link SWDIO via solder bridge SB17.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 veroorzaakt signaal conflicten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maakt IRTIM onbruikbaar.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5303520" cy="16459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 IRTIM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Gating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 load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Geen (HW AND)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ISR write/half-bit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Carrier jitter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~26 µs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PA13 alleen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Elke TIM16 pin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NUCLEO bruikbaar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 (SWDIO)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943600" y="3200400"/>
            <a:ext cx="2743200" cy="164592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6" name="Text 13"/>
          <p:cNvSpPr/>
          <p:nvPr/>
        </p:nvSpPr>
        <p:spPr>
          <a:xfrm>
            <a:off x="594360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Oplossing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35040" y="35661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gating: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 schrijft TIM16 CCR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 carrier te schakelen.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op PA6 i.p.v. PA13.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DIAGRAM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Compleet RC5 Frame voor 0x3010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Frame: RC5_Send(0, 0x00, 0x10) = 0x3010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Bits (MSB first):  1   1   0   0   0   0   0   0   0   1   0   0   0   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1894" y="1878129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S1  S2   T  A4  A3  A2  A1  A0  C5  C4  C3  C2  C1  C0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PA2 (envelope):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2860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S1=1        S2=1        T=0         A4=0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2514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___▔▔▔    ___▔▔▔    ▔▔▔___    ▔▔▔___  ...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27432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  mk     sp  mk     mk  sp     mk  sp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PA6 (modulated):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3108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___////    ___////    ////___    ////___  ...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33832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38kHz       38kHz      38kHz      38kHz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Tijd:  |←─889µs─→|←─889µs─→| = 1.778 ms per bit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Totale frame duur: 14 × 1.778 ms = 24.889 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Legenda:  sp = space (LED uit)    mk = mark (38 kHz burst)    //// = carrier pulsen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STRUCTUUR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Organisatie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114800" cy="3383280"/>
          </a:xfrm>
          <a:prstGeom prst="rect">
            <a:avLst/>
          </a:prstGeom>
          <a:solidFill>
            <a:srgbClr val="1E1E1E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L432KC_IR_TRANSMIT/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main.h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stm32l4xx_hal_conf.h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stm32l4xx_it.h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main.c           ← RC5 code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stm32l4xx_hal_msp.c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stm32l4xx_it.c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system_stm32l4xx.c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Drivers/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CMSIS/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STM32L4xx_HAL_Driver/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8404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 encoder, timer init,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loop, ISR callback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2240280"/>
            <a:ext cx="38404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stm32l4xx_hal_msp.c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560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AF config,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clock, NVIC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8404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7" name="Text 15"/>
          <p:cNvSpPr/>
          <p:nvPr/>
        </p:nvSpPr>
        <p:spPr>
          <a:xfrm>
            <a:off x="484632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stm32l4xx_it.c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429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IRQ handlers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(routes naar HAL)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3977640"/>
            <a:ext cx="38404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0" name="Text 18"/>
          <p:cNvSpPr/>
          <p:nvPr/>
        </p:nvSpPr>
        <p:spPr>
          <a:xfrm>
            <a:off x="4846320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stm32l4xx_hal_conf.h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module enables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(TIM, GPIO, etc.)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>
            <a:off x="-457200" y="-1828800"/>
            <a:ext cx="4572000" cy="8229600"/>
          </a:xfrm>
          <a:prstGeom prst="ellipse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Shape 2"/>
          <p:cNvSpPr/>
          <p:nvPr/>
        </p:nvSpPr>
        <p:spPr>
          <a:xfrm>
            <a:off x="-1371600" y="-2286000"/>
            <a:ext cx="4572000" cy="8229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 IR TRANSMITTER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91440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14-bit RC5 frame met Manchester encoding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TIM16: 38 kHz carrier (25% duty cycle)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TIM15: 889 µs envelope timer + interrupt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Software gating i.p.v. hardware IRTIM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ISR stapt door 28 half-bits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Toggle bit voor druk detectie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120 ms interval tussen frames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4389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SYSTEMS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VIVES Hogeschool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1811</Words>
  <Application>Microsoft Office PowerPoint</Application>
  <PresentationFormat>Diavoorstelling (16:9)</PresentationFormat>
  <Paragraphs>407</Paragraphs>
  <Slides>15</Slides>
  <Notes>15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18" baseType="lpstr">
      <vt:lpstr>Arial</vt:lpstr>
      <vt:lpstr>Consolas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RC5 IR Transmitter - Code Architectuur</dc:title>
  <dc:subject>PptxGenJS Presentation</dc:subject>
  <dc:creator>VIVES Hogeschool</dc:creator>
  <cp:lastModifiedBy>Thomas Demeulenaere</cp:lastModifiedBy>
  <cp:revision>2</cp:revision>
  <dcterms:created xsi:type="dcterms:W3CDTF">2026-02-12T09:34:40Z</dcterms:created>
  <dcterms:modified xsi:type="dcterms:W3CDTF">2026-02-25T08:53:32Z</dcterms:modified>
</cp:coreProperties>
</file>