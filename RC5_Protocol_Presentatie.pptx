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9" r:id="rId10"/>
    <p:sldId id="270" r:id="rId11"/>
    <p:sldId id="271" r:id="rId12"/>
    <p:sldId id="265" r:id="rId13"/>
    <p:sldId id="267" r:id="rId14"/>
    <p:sldId id="272" r:id="rId15"/>
    <p:sldId id="273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966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7C98-558A-D472-69A4-2C37D5E3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D6769-FF36-022A-F4BF-990520C7A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E4242-E7AD-793A-6D64-7001B5FFD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665FF-C874-72AA-84CF-76275B49D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7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ED4D-A22C-839F-591A-7E0C4C42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3F44A-FDCA-6EDC-008D-D0D4BC4AF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2B90E-AF23-1062-4DBA-B4B88D267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2C42-D5AF-451F-80D6-9A1A9FC53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91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4F15-B42F-1B1F-736D-68EF3BEC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DD8A0-56E4-5F6D-009C-E4B5BD4D6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7CFD5-DEE5-0D22-EA82-7AF6EA20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5250A-96AF-67B5-986F-45B6B686D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73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4CE8-4750-CB12-B10F-00F913AF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75078-5CB6-1423-7468-EA86A5CC6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9AA7E-ACF8-D673-A9B6-644F2B813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BF711-FEB3-59C3-9271-AFDB1A112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41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9DB1-22A7-234E-7B4D-6A0EE0B9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033B0-FC78-4E17-1E03-23503760F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7155-14A9-DB30-66E1-B4CB78E6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63C7-C63B-4ECE-B633-D32AB9AD7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98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-457200" y="-1828800"/>
            <a:ext cx="4572000" cy="8229600"/>
          </a:xfrm>
          <a:prstGeom prst="ellipse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Shape 2"/>
          <p:cNvSpPr/>
          <p:nvPr/>
        </p:nvSpPr>
        <p:spPr>
          <a:xfrm>
            <a:off x="-1371600" y="-2286000"/>
            <a:ext cx="4572000" cy="8229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Note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AN4834 - STMicroelectronics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Infrarood Communicatie met STM32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PROTOCOL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INFRAROOD COMMUNICATIE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Elektromagnetisch Spectrum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Infrarood straling ligt tussen microgolven en zichtbaar licht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Near-IR (nabij infrarood) wordt gebruikt voor afstandsbedieningen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Draadloze communicatie zonder fysieke verbinding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22860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850-950 nm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golflengte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LED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2926080"/>
            <a:ext cx="22860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38862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36-40 kHz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(carrier)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22860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cycle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energie-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besparing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Ontwikkeld door Philips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Kenmerken: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14-bit woord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Bi-phase modulatie (Manchester)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kHz draaggolf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tijd: 1.778 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 mogelijke commando's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apparaten × 64 functies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Structuur: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83080"/>
          <a:ext cx="338328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(F)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Toggle (C)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371600" y="4206240"/>
            <a:ext cx="7315200" cy="640080"/>
          </a:xfrm>
          <a:prstGeom prst="rect">
            <a:avLst/>
          </a:prstGeom>
          <a:solidFill>
            <a:srgbClr val="FFF5F5"/>
          </a:solidFill>
          <a:ln w="127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0"/>
          <p:cNvSpPr/>
          <p:nvPr/>
        </p:nvSpPr>
        <p:spPr>
          <a:xfrm>
            <a:off x="1554480" y="43159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op: Voor TSOP4838 receivers gebruiken we 38 kHz i.p.v. 36 kHz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CODERING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7726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Bi-phase Modulatie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8633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Voordelen Manchester codering: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63980" y="415223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Self-clocking: transitie in het midden van elke bit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Robuust tegen timing variaties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DC-component in het signaal</a:t>
            </a:r>
            <a:endParaRPr lang="en-US" sz="1200" dirty="0"/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BB36EC7-8E81-E4A1-23C7-D90A8DBC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277" y="1235876"/>
            <a:ext cx="7549347" cy="2418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FRAME STRUCTUUR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01262" y="7647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14-bit RC5 Frame: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9956" y="3232354"/>
            <a:ext cx="7315200" cy="1801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bit (S):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Altijd '1' - markeert begin van frame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bit (F):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Uitbreiding command range (0-63 of 64-127)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bit (C):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Wisselt bij elke nieuwe knopdruk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(5 bits):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Selecteert 1 van 32 apparaten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(6 bits):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commando's per apparaat (128 met F-bit)</a:t>
            </a:r>
            <a:endParaRPr lang="en-US" sz="1200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E384A2D-D99E-A4BE-6918-D814DB8AE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56" y="1084836"/>
            <a:ext cx="6860272" cy="2119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TIMING SPECIFICATIES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1554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Typisch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Half-bit periode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1140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Full-bit periode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1340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1778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2220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tijd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26.1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Herhaal interval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113.8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119.5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Carrier periode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27.8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28.3 µs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44187" y="2964615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Time: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4187" y="3284655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Tussen frames wordt een idle tijd van 50 bit-periodes ingevoegd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periodiciteit: 64 × 1.778 ms = 113.8 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voorkomt frame-collisies bij herhaalde transmissies</a:t>
            </a:r>
            <a:endParaRPr lang="en-US" sz="1200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FF3F712-D47A-F159-8A39-0B77AF318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940" y="3110560"/>
            <a:ext cx="4316379" cy="1545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IRTIM HARDWARE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Infrared Interface met Timers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6858000" cy="1036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Beschrijving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TIM_HF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36/38 kHz draaggolf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TIM_LF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Envelope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signaal (889 µs)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IRTIM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Combineert HF × 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1054677" y="2823625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toewijzing per MCU: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30189"/>
              </p:ext>
            </p:extLst>
          </p:nvPr>
        </p:nvGraphicFramePr>
        <p:xfrm>
          <a:off x="1054677" y="3248198"/>
          <a:ext cx="5029200" cy="777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MCU Familie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TIM_LF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TIM_HF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STM32F0/F3/G0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20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STM32L4x3 (L432KC)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675120" y="3017520"/>
            <a:ext cx="210312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2" name="Text 8"/>
          <p:cNvSpPr/>
          <p:nvPr/>
        </p:nvSpPr>
        <p:spPr>
          <a:xfrm>
            <a:off x="667512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Berekening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675120" y="3474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=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fCLK / fCarrier - 1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80MHz / 38kHz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2104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TRANSMITTER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77322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Configuratie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Signaal Flow: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TIM_LF (envelope) × TIM_HF (carrier) → IRTIM → GPIO → IR LED</a:t>
            </a:r>
            <a:endParaRPr lang="en-US" sz="1100" dirty="0"/>
          </a:p>
        </p:txBody>
      </p: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37A1496A-EED0-DD35-0982-F5A5FFED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1294576"/>
            <a:ext cx="6217290" cy="2705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5611B-5346-8AD2-21B0-02B397CD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9A9BAC-4A06-EB12-7874-2212B53FD52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D0DF60-DDF9-8289-739D-6CCC992539F8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CF4D90-CDE4-0783-D13F-206839FD1E51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TRANSMITTER SCHEMA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9B0015-9FBA-BE0C-A78C-FEB4A6CBDD8C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9A80FE-0597-5798-C3A2-B22F5691B0EA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1EE885-FB60-EF79-1534-8D45EC529D30}"/>
              </a:ext>
            </a:extLst>
          </p:cNvPr>
          <p:cNvSpPr/>
          <p:nvPr/>
        </p:nvSpPr>
        <p:spPr>
          <a:xfrm>
            <a:off x="1371600" y="77322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Configuratie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ED42E7-3FF5-635F-0631-BCC552BE8415}"/>
              </a:ext>
            </a:extLst>
          </p:cNvPr>
          <p:cNvSpPr/>
          <p:nvPr/>
        </p:nvSpPr>
        <p:spPr>
          <a:xfrm>
            <a:off x="13716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Signaal Flow: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B645AD-CD3C-93E5-E287-010FD0C9E705}"/>
              </a:ext>
            </a:extLst>
          </p:cNvPr>
          <p:cNvSpPr/>
          <p:nvPr/>
        </p:nvSpPr>
        <p:spPr>
          <a:xfrm>
            <a:off x="13716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TIM_LF (envelope) × TIM_HF (carrier) → IRTIM → GPIO → IR LED</a:t>
            </a:r>
            <a:endParaRPr lang="en-US" sz="11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272DC64-2944-978E-9635-89FB0BA6F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88" y="1131548"/>
            <a:ext cx="6505623" cy="302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0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B6003-AF73-56CD-8745-B4116CB3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3E5EF1-F6A2-8997-0008-9E12D824BD8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A548AE-9D38-7FF0-8291-DDAB1D3D6C38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A7EBBA-9D02-6D00-AF11-9D2270B497E5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SENDING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0DAD0A-47BC-C26E-8560-53C65C6C2E93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4A8F41-1D78-FCE0-ED45-C6BFF9294844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C846015-65EE-E1A0-150B-5930A6E05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345" y="806372"/>
            <a:ext cx="2837309" cy="413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5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19181-BDA3-7437-DBF5-661B32D6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C2CA06-43D0-B977-6E51-955AA856FD3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11E9FC-BE45-21D3-5279-04FB370351CD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DFBDD1-B2CD-1C74-6C2D-CC57288497B9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Driver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189F76-2757-2A17-F25B-CDAC48D6B476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E3709C-2228-E85B-664F-E376AFD4D2A4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718BD62-49F1-6DF8-3AB5-04959F478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24" y="1621033"/>
            <a:ext cx="6363626" cy="269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RECEIVER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3278" y="62553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TSOP4838 Aansluiting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TSOP4838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749040"/>
            <a:ext cx="73152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nl-BE" dirty="0"/>
          </a:p>
        </p:txBody>
      </p:sp>
      <p:sp>
        <p:nvSpPr>
          <p:cNvPr id="20" name="Text 18"/>
          <p:cNvSpPr/>
          <p:nvPr/>
        </p:nvSpPr>
        <p:spPr>
          <a:xfrm>
            <a:off x="1554480" y="3840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Belangrijk: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41605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GEÏNVERTEERD t.o.v. verzonden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staat = HIGH (3.3V), Actieve burst = LOW</a:t>
            </a:r>
            <a:endParaRPr lang="en-US" sz="1100" dirty="0"/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6A653542-A0F9-8BE2-3E71-4F60CC3C6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22" y="1120122"/>
            <a:ext cx="4965055" cy="2505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DECODER WERKING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6093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Input Mode - Interrupt Events</a:t>
            </a:r>
            <a:endParaRPr lang="en-US" sz="1600" dirty="0"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659D2B45-2900-C7C8-DA39-92032E6F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081" y="1225296"/>
            <a:ext cx="5257838" cy="3467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958CE-72C6-C812-0D38-D36FB25D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85D99F-3E9A-D634-A60E-A5FC3A6F3743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74D80E-8D3C-FFF4-0D2D-CB76B0C21985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6420DD-3FA9-16FC-DA65-1AE7846D32E7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DECODER WERKING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99BE74B-214C-8890-C86F-B8774B0A2CC5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A66E94-6DF0-A773-D6A1-5367B6770509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46CE73-6403-49AC-18A7-B79AA825165B}"/>
              </a:ext>
            </a:extLst>
          </p:cNvPr>
          <p:cNvSpPr/>
          <p:nvPr/>
        </p:nvSpPr>
        <p:spPr>
          <a:xfrm>
            <a:off x="1266093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Input Mode - Interrupt Events</a:t>
            </a:r>
            <a:endParaRPr lang="en-US" sz="16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D6AC1D-ECAA-0BFF-D080-B8471BAC0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39" y="1529593"/>
            <a:ext cx="3300946" cy="298913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3381843A-2ABD-AED7-BAEA-0DF76A843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74" y="1256415"/>
            <a:ext cx="1419235" cy="20002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9888767-8319-4371-A0FE-65196972B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19223"/>
            <a:ext cx="2838471" cy="2609869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DF40B3C-C1DD-E79A-7B09-2C91D6D8D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9" y="1207843"/>
            <a:ext cx="1524011" cy="20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10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69417-86E8-ABE0-38F4-993D60D3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2E7245-71E5-3ED0-D55C-23E3E42603B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E83060-DEC6-EACB-5A8B-FD9C4B123485}"/>
              </a:ext>
            </a:extLst>
          </p:cNvPr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472ACF-3D8A-8ACD-7A47-59C48B625582}"/>
              </a:ext>
            </a:extLst>
          </p:cNvPr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 DECODER WERKING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1E2B25B-6119-7621-8510-C31F8EA82FF1}"/>
              </a:ext>
            </a:extLst>
          </p:cNvPr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E169F6-9911-A154-34F8-C93906C3FB25}"/>
              </a:ext>
            </a:extLst>
          </p:cNvPr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E1ED64-F2F6-3B15-8B7B-C19545010EEB}"/>
              </a:ext>
            </a:extLst>
          </p:cNvPr>
          <p:cNvSpPr/>
          <p:nvPr/>
        </p:nvSpPr>
        <p:spPr>
          <a:xfrm>
            <a:off x="1266093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Input Mode - Interrupt Events</a:t>
            </a:r>
            <a:endParaRPr lang="en-US" sz="16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A793177-6442-7F07-8DA5-1A165495F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509" y="1115568"/>
            <a:ext cx="5048287" cy="401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6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 rot="600000">
            <a:off x="-822960" y="-822960"/>
            <a:ext cx="2011680" cy="2194560"/>
          </a:xfrm>
          <a:prstGeom prst="ellipse">
            <a:avLst/>
          </a:prstGeom>
          <a:solidFill>
            <a:srgbClr val="D42027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503920" y="4754880"/>
            <a:ext cx="640080" cy="3886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8503920" y="4773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X-CUBE-IRREMOTE Package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1463040"/>
            <a:ext cx="685800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Application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103120"/>
            <a:ext cx="3337560" cy="548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1" name="Text 9"/>
          <p:cNvSpPr/>
          <p:nvPr/>
        </p:nvSpPr>
        <p:spPr>
          <a:xfrm>
            <a:off x="1371600" y="21762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rc5_encode.c / rc5_decode.c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2103120"/>
            <a:ext cx="3337560" cy="5486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4892040" y="21762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ir_common.h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743200"/>
            <a:ext cx="685800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5" name="Text 13"/>
          <p:cNvSpPr/>
          <p:nvPr/>
        </p:nvSpPr>
        <p:spPr>
          <a:xfrm>
            <a:off x="1371600" y="281635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STM32Cube HAL (GPIO, TIM, NVIC)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6858000" cy="548640"/>
          </a:xfrm>
          <a:prstGeom prst="rect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1371600" y="34564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Hardware (IRTIM, TIMx, GPIO)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Belangrijke Functies: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RC5_Encode_Init() / RC5_Encode_SendFrame()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RC5_Init() / RC5_Decode()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HAL_TIM_IC_CaptureCallback() / HAL_TIM_PeriodElapsedCallback()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PresentationFormat>Diavoorstelling (16:9)</PresentationFormat>
  <Paragraphs>189</Paragraphs>
  <Slides>16</Slides>
  <Notes>16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RC5 Infrarood Protocol - AN4834</dc:title>
  <dc:subject>PptxGenJS Presentation</dc:subject>
  <dc:creator>VIVES Hogeschool</dc:creator>
  <cp:lastModifiedBy>Thomas Demeulenaere</cp:lastModifiedBy>
  <cp:revision>3</cp:revision>
  <dcterms:created xsi:type="dcterms:W3CDTF">2026-02-04T15:18:49Z</dcterms:created>
  <dcterms:modified xsi:type="dcterms:W3CDTF">2026-02-25T08:52:50Z</dcterms:modified>
</cp:coreProperties>
</file>